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076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67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81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8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07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162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27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89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62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30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614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7199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164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9886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64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30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49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A4DC637-F191-4AB8-8E5E-C57411F0C5FA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425472B-78FE-4C76-924C-744CF57957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5823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8AEDA-1CF9-3764-15D4-0B61B3B8A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461394"/>
            <a:ext cx="10817094" cy="1947333"/>
          </a:xfrm>
        </p:spPr>
        <p:txBody>
          <a:bodyPr/>
          <a:lstStyle/>
          <a:p>
            <a:r>
              <a:rPr lang="nn-NO" b="1" dirty="0"/>
              <a:t>Banking Data Platform using Microsoft Azure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2C229-D92F-E401-5B0F-1AE310989F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2718033"/>
            <a:ext cx="7511832" cy="3073167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+mj-lt"/>
              </a:rPr>
              <a:t>A cloud-based, scalable and intelligent data engineering solution designed to process ATM &amp; UPI transactions, detect frauds, and support analytical decision-making at enterprise scale.</a:t>
            </a:r>
            <a:endParaRPr lang="en-IN" sz="20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9548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92B28-85A5-39C9-5A97-E07AFAF9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Project 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56797-C67D-66F3-65B9-F99342416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The objective of this project is to build a unified cloud-native data platform capable of handling operational transactions, analytical workloads and regulatory reporting.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 system aims to: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Enable real-time ingestion of ATM &amp; UPI transactions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Build centralized storage for high-volume banking data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Detect suspicious or abnormal payments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Maintain clean, high-quality data layers for BI consumption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Reduce manual reporting effort and operational delays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Provide secure and governed access to sensitive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658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AD269-406E-35AC-0675-228727BBD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03542-3798-C725-B67B-21B19942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US" b="1" dirty="0"/>
              <a:t>What Problem We Are Solving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EAA9-3C4F-8189-CD07-47994A046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The Banks handle millions of transactions daily and face issues like: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✘ Data being scattered across systems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✘ Slow reporting due to manual data consolidation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✘ Lack of real-time fraud alerts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✘ Duplicate, inconsistent, or missing customer/account records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Through automation and structured data flow, we overcame these bottlenecks and delivered a fully modernized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80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21948-86E9-067F-D9FA-A77905107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58AB-A797-2735-3D68-C9CA30D7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High-Level Design Output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C1172-C546-6632-6F48-AC1115251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This platform delivers: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Automated file-based ingestion of daily transactions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Real-time alerting for abnormal transactions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Multi-layer Data Lake for governed storage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Centralized Data Warehouse for analytics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Customer-centric 360-degree analytical view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Role-based dashboards with KPI visibility</a:t>
            </a:r>
          </a:p>
        </p:txBody>
      </p:sp>
    </p:spTree>
    <p:extLst>
      <p:ext uri="{BB962C8B-B14F-4D97-AF65-F5344CB8AC3E}">
        <p14:creationId xmlns:p14="http://schemas.microsoft.com/office/powerpoint/2010/main" val="960468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FC0C-FE24-4EC3-19A3-6AB291CC4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CDE7-BAEB-F69A-A174-ACC78FE3A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Key Services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390FB-8028-D406-0DA6-B8AD34089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Azure Blob Storage / ADLS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Azure Service Bus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Azure Cosmos DB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Azure Functions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Azure Databricks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Azure SQL Database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Application Insights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Power BI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Each service is selected specifically to solve ingestion, processing, storing, modelling, reporting and automation needs.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2349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BEDE8-CBBF-6DDB-9700-4A7C5CAF5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80F3-C7F5-CF4E-F32E-DA1591C31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9609081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Azure Blob Storage Purpose + Execution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E66BD-B0FC-4281-D168-3BBB9FAC2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Blob Storage is used as the entry point for banking data.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Execution Approach: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Created structured folders for ATM, UPI, customer dumps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Enabled ADLS Hierarchical Namespace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Designed Bronze, Silver, Gold layer folders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Used container triggers to start ingestion pipeline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Outcome: Organized landing zone for raw source data and complete traceability over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69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599D-BE95-83E8-F899-A7C7E752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A60F-C19C-CE4E-8722-372F33348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9810417" cy="763398"/>
          </a:xfrm>
        </p:spPr>
        <p:txBody>
          <a:bodyPr>
            <a:normAutofit/>
          </a:bodyPr>
          <a:lstStyle/>
          <a:p>
            <a:r>
              <a:rPr lang="en-IN" b="1" dirty="0"/>
              <a:t>Azure Cosmos DB Purpose +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EA30C-DF3B-AD71-4019-ECA641887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Cosmos DB works as the active, operational-level datastore.</a:t>
            </a:r>
          </a:p>
          <a:p>
            <a:pPr>
              <a:lnSpc>
                <a:spcPct val="150000"/>
              </a:lnSpc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Execution Approach: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Record structure captured as JSON documents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Data inserted from Azure Functions in real-time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Separate containers for </a:t>
            </a:r>
            <a:r>
              <a:rPr lang="en-US" dirty="0" err="1">
                <a:solidFill>
                  <a:schemeClr val="tx1"/>
                </a:solidFill>
              </a:rPr>
              <a:t>ATMTransactions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UPIEvents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FraudAlerts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Partitioning implemented for faster lookup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Outcome: Instant availability of latest transactions and risk events without requiring batch refresh.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28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326D8-1155-10A4-658D-B3D29D3E1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B93B-E667-FAE8-7431-6166D277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Azure Service Bus Purpose + Execution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28BC-4DDC-B302-005A-96E477EC1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Service Bus decouples ingestion from processing.</a:t>
            </a:r>
          </a:p>
          <a:p>
            <a:pPr>
              <a:lnSpc>
                <a:spcPct val="150000"/>
              </a:lnSpc>
            </a:pPr>
            <a:br>
              <a:rPr lang="en-IN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Execution Approach:</a:t>
            </a:r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Event trigger publishes message into queue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Queue trigger processes data asynchronously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Reduces load on processing layer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Prevents data loss via message retention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Outcome: Highly scalable ingestion, independent of file size or transaction volume.</a:t>
            </a:r>
          </a:p>
        </p:txBody>
      </p:sp>
    </p:spTree>
    <p:extLst>
      <p:ext uri="{BB962C8B-B14F-4D97-AF65-F5344CB8AC3E}">
        <p14:creationId xmlns:p14="http://schemas.microsoft.com/office/powerpoint/2010/main" val="1466328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23D62-C788-766E-AA6B-DA4BD931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9294E-B25C-D1AF-C202-6C9291D8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Azure Functions Purpose + Execution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9306B-7B55-5858-626A-8FDC4BDBD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504178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Execution Approach Includes: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Event Grid-trigger Function – recognizes new file arrival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HTTP-trigger – allows manual pipeline refresh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Queue-trigger Function – main ETL execution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Function Responsibilities: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Read file metadata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Extract banking records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Detect fraud based on thresholds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Push alerts into Cosmos DB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Store processed data into data lake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Outcome: Fully automated low-latency processing pipeline.</a:t>
            </a:r>
          </a:p>
        </p:txBody>
      </p:sp>
    </p:spTree>
    <p:extLst>
      <p:ext uri="{BB962C8B-B14F-4D97-AF65-F5344CB8AC3E}">
        <p14:creationId xmlns:p14="http://schemas.microsoft.com/office/powerpoint/2010/main" val="209346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4801-5DE5-A7C4-F56E-569BAE0BF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E6E6-D846-F8C9-ED3A-17051CBDE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Azure Databricks Purpose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D9F33-36A0-8F7D-07CD-95588FE56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Databricks was used to refine raw and semi-structured data into analytical-ready format.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Execution Details: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Consolidated structured records into Spark </a:t>
            </a:r>
            <a:r>
              <a:rPr lang="en-IN" dirty="0" err="1">
                <a:solidFill>
                  <a:schemeClr val="tx1"/>
                </a:solidFill>
              </a:rPr>
              <a:t>DataFrames</a:t>
            </a:r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Applied data profiling and validation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Standardized date time formats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Ensured numeric precision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Dropped irrelevant system metadata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Built unified Fact Tables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 </a:t>
            </a:r>
            <a:r>
              <a:rPr lang="en-IN" dirty="0">
                <a:solidFill>
                  <a:schemeClr val="tx1"/>
                </a:solidFill>
              </a:rPr>
              <a:t>From messy, irregular input → business-standard Gold model.</a:t>
            </a:r>
          </a:p>
        </p:txBody>
      </p:sp>
    </p:spTree>
    <p:extLst>
      <p:ext uri="{BB962C8B-B14F-4D97-AF65-F5344CB8AC3E}">
        <p14:creationId xmlns:p14="http://schemas.microsoft.com/office/powerpoint/2010/main" val="5591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E13A-A442-0F94-7510-BD4AE444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AC5E-A0E6-C128-83F7-CB482F4B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Azure SQL DW Purpose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4959A-6E7B-5577-F6DF-5A8BDA68F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SQL DB stores the final structured version consumed by business.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Execution Details: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Created Dim &amp; Fact tables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Loaded from Databricks using JDBC connections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Applied UPSERT rules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Indexed key attributes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Outcome: </a:t>
            </a:r>
            <a:r>
              <a:rPr lang="en-US" dirty="0">
                <a:solidFill>
                  <a:schemeClr val="tx1"/>
                </a:solidFill>
              </a:rPr>
              <a:t>Analytical data prepared within seconds, supporting reporting without heavy processing.</a:t>
            </a:r>
          </a:p>
        </p:txBody>
      </p:sp>
    </p:spTree>
    <p:extLst>
      <p:ext uri="{BB962C8B-B14F-4D97-AF65-F5344CB8AC3E}">
        <p14:creationId xmlns:p14="http://schemas.microsoft.com/office/powerpoint/2010/main" val="159476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E0D8-1CA9-9878-95E5-D2255BE2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07EE-DEA3-9EAD-EAC9-99ED67E85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11345602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Business Use Case: Real-time Transaction Tracking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78BE0-CA48-D883-9BFB-D73244886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Banking stakeholders can now identify: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Daily ATM withdrawal trend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UPI settlement amounts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Channel-wise performance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Success vs failure transactions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Execution Output: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Updated every ingestion cycle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Available immediately on Power BI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Helps branch monitoring teams act faster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82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D4F2F-7BE2-1EE2-6F24-434C6436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006F-C597-389D-6B8F-058C0B4D1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Case: Fraud Detection Execution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AC2BD-AD9F-83C5-9C35-C97698560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Executed logic examples: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🔶 ATM withdrawal &gt; ₹50,000 flagged as HIGH VALUE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🔶 UPI transfer beyond threshold marked UNUSUAL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🔶 Frequent withdrawals within short windows flagged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Alerts include: </a:t>
            </a:r>
            <a:r>
              <a:rPr lang="en-IN" dirty="0" err="1">
                <a:solidFill>
                  <a:schemeClr val="tx1"/>
                </a:solidFill>
              </a:rPr>
              <a:t>TransactionID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dirty="0" err="1">
                <a:solidFill>
                  <a:schemeClr val="tx1"/>
                </a:solidFill>
              </a:rPr>
              <a:t>CustomerID</a:t>
            </a:r>
            <a:r>
              <a:rPr lang="en-IN" dirty="0">
                <a:solidFill>
                  <a:schemeClr val="tx1"/>
                </a:solidFill>
              </a:rPr>
              <a:t>, Amount, Time, Risk Type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Impact: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Fraud analysts get instant visibility, helping timely customer support and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309272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9CF12-9239-556C-2787-04AA92E17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A2D9-EA32-AB38-068E-28A824CC6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Use Case: Customer Activity Profiling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9F11C-A384-F7F3-88F1-39E7F08E4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Insights generated: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Monthly withdrawal pattern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Account spending behaviour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Active vs dormant accounts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Total exposure based on amount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Execution: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Created a Customer 360 view by merging transactions + customer master + fraud metrics.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Better decision making on customer risk, revenue, credit scoring etc.</a:t>
            </a:r>
          </a:p>
        </p:txBody>
      </p:sp>
    </p:spTree>
    <p:extLst>
      <p:ext uri="{BB962C8B-B14F-4D97-AF65-F5344CB8AC3E}">
        <p14:creationId xmlns:p14="http://schemas.microsoft.com/office/powerpoint/2010/main" val="3764490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4DE1-B9B8-3941-5B83-0D5B16EFB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B85A-D562-8156-E06C-A8176BA5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/>
          </a:bodyPr>
          <a:lstStyle/>
          <a:p>
            <a:r>
              <a:rPr lang="en-IN" b="1" dirty="0"/>
              <a:t>Use Case: Regulatory Reporting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FF9AA-1810-325C-576D-F7A06CFF8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Platform supports regulator-grade tables such as: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✔ Large-value cash transaction summary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✔ Suspicious UPI Transfers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✔ Branch-wise high-risk customer IDs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Execution Result: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Reports can be generated in minutes rather than hours manually.</a:t>
            </a:r>
          </a:p>
        </p:txBody>
      </p:sp>
    </p:spTree>
    <p:extLst>
      <p:ext uri="{BB962C8B-B14F-4D97-AF65-F5344CB8AC3E}">
        <p14:creationId xmlns:p14="http://schemas.microsoft.com/office/powerpoint/2010/main" val="2259136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82007-3C78-B402-252E-D1633DCD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4B3F-CD8A-C619-2C84-127B82BC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/>
          </a:bodyPr>
          <a:lstStyle/>
          <a:p>
            <a:r>
              <a:rPr lang="en-IN" b="1" dirty="0"/>
              <a:t>Execution: End-to-End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4F377-BA50-E3A3-BFEF-807703FC3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Files arrive → Trigger events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Events push metadata into queue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Queue trigger extracts and processes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Cosmos stores record copies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Databricks converts to clean tables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Warehouse loads structured model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Power BI connects to warehouse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Result</a:t>
            </a:r>
            <a:r>
              <a:rPr lang="en-IN" dirty="0">
                <a:solidFill>
                  <a:schemeClr val="tx1"/>
                </a:solidFill>
              </a:rPr>
              <a:t>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Data begins in raw format and exits as governed business intelligence.</a:t>
            </a:r>
          </a:p>
        </p:txBody>
      </p:sp>
    </p:spTree>
    <p:extLst>
      <p:ext uri="{BB962C8B-B14F-4D97-AF65-F5344CB8AC3E}">
        <p14:creationId xmlns:p14="http://schemas.microsoft.com/office/powerpoint/2010/main" val="3380635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AD94-8650-8D62-6577-4FEF5BA0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AE1D-969F-C00F-D820-2920A4E8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Execution Output Snapshots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B3AF8-DEC8-1AA9-90FF-26CA0095D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Deliverables made available:</a:t>
            </a:r>
            <a:br>
              <a:rPr lang="en-IN" b="1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</a:t>
            </a:r>
            <a:r>
              <a:rPr lang="en-IN" dirty="0" err="1">
                <a:solidFill>
                  <a:schemeClr val="tx1"/>
                </a:solidFill>
              </a:rPr>
              <a:t>FactTransactions</a:t>
            </a:r>
            <a:r>
              <a:rPr lang="en-IN" dirty="0">
                <a:solidFill>
                  <a:schemeClr val="tx1"/>
                </a:solidFill>
              </a:rPr>
              <a:t> table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</a:t>
            </a:r>
            <a:r>
              <a:rPr lang="en-IN" dirty="0" err="1">
                <a:solidFill>
                  <a:schemeClr val="tx1"/>
                </a:solidFill>
              </a:rPr>
              <a:t>FactFraudDetection</a:t>
            </a:r>
            <a:r>
              <a:rPr lang="en-IN" dirty="0">
                <a:solidFill>
                  <a:schemeClr val="tx1"/>
                </a:solidFill>
              </a:rPr>
              <a:t> table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</a:t>
            </a:r>
            <a:r>
              <a:rPr lang="en-IN" dirty="0" err="1">
                <a:solidFill>
                  <a:schemeClr val="tx1"/>
                </a:solidFill>
              </a:rPr>
              <a:t>DimCustomer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</a:t>
            </a:r>
            <a:r>
              <a:rPr lang="en-IN" dirty="0" err="1">
                <a:solidFill>
                  <a:schemeClr val="tx1"/>
                </a:solidFill>
              </a:rPr>
              <a:t>DimAccount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</a:t>
            </a:r>
            <a:r>
              <a:rPr lang="en-IN" dirty="0" err="1">
                <a:solidFill>
                  <a:schemeClr val="tx1"/>
                </a:solidFill>
              </a:rPr>
              <a:t>DimDate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Customer 360 view</a:t>
            </a:r>
          </a:p>
        </p:txBody>
      </p:sp>
    </p:spTree>
    <p:extLst>
      <p:ext uri="{BB962C8B-B14F-4D97-AF65-F5344CB8AC3E}">
        <p14:creationId xmlns:p14="http://schemas.microsoft.com/office/powerpoint/2010/main" val="3151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DBC9A-BFA7-53C8-03F6-E73D9024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C68D-DE76-6A18-C48F-354B86F24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Data Quality Improvements Observed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69012-5D9B-A3D2-7996-3881360AB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Before System: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❌ Mixed date formats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❌ Amount fields in string format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❌ Missing customer linkage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After System: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Standard timestamps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Numeric precision maintained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Foreign key validation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Duplicate removal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 </a:t>
            </a:r>
            <a:r>
              <a:rPr lang="en-IN" dirty="0">
                <a:solidFill>
                  <a:schemeClr val="tx1"/>
                </a:solidFill>
              </a:rPr>
              <a:t>Trusted analytics ready for BI.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143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70481-673C-289B-6C49-10F8A97C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088A-C0AC-A5EB-C8BB-267B6A26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0" y="352338"/>
            <a:ext cx="11286880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Challenge Faced: No Direct Cosmos connector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6683A-593A-B846-0BC0-72D2E6CF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Cosmos DB Spark connector not compatible with active cluster version.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Resolution: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Used Python SDK to load documents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Converted JSON results into Spark </a:t>
            </a:r>
            <a:r>
              <a:rPr lang="en-IN" dirty="0" err="1">
                <a:solidFill>
                  <a:schemeClr val="tx1"/>
                </a:solidFill>
              </a:rPr>
              <a:t>DataFrames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Automated iterative scroll-based read using continuation tokens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 </a:t>
            </a:r>
            <a:r>
              <a:rPr lang="en-IN" dirty="0">
                <a:solidFill>
                  <a:schemeClr val="tx1"/>
                </a:solidFill>
              </a:rPr>
              <a:t>Data pipeline became stable and loss-free.</a:t>
            </a:r>
          </a:p>
        </p:txBody>
      </p:sp>
    </p:spTree>
    <p:extLst>
      <p:ext uri="{BB962C8B-B14F-4D97-AF65-F5344CB8AC3E}">
        <p14:creationId xmlns:p14="http://schemas.microsoft.com/office/powerpoint/2010/main" val="3518617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EE60-B62D-7711-2512-BE9D455C3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64A3-FBC2-049E-C53A-9668B4CF5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Challenge Faced: Duplicate Loads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2312C-6ACD-C726-3BE5-1A237D16B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Same files were reprocessed multiple times.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Resolution: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Introduced </a:t>
            </a:r>
            <a:r>
              <a:rPr lang="en-IN" dirty="0" err="1">
                <a:solidFill>
                  <a:schemeClr val="tx1"/>
                </a:solidFill>
              </a:rPr>
              <a:t>TransactionID</a:t>
            </a:r>
            <a:r>
              <a:rPr lang="en-IN" dirty="0">
                <a:solidFill>
                  <a:schemeClr val="tx1"/>
                </a:solidFill>
              </a:rPr>
              <a:t> uniqueness validation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Applied merge logic instead of append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Maintained processed-file log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 </a:t>
            </a:r>
            <a:r>
              <a:rPr lang="en-IN" dirty="0">
                <a:solidFill>
                  <a:schemeClr val="tx1"/>
                </a:solidFill>
              </a:rPr>
              <a:t>Zero duplicate counts in gold layer.</a:t>
            </a:r>
          </a:p>
        </p:txBody>
      </p:sp>
    </p:spTree>
    <p:extLst>
      <p:ext uri="{BB962C8B-B14F-4D97-AF65-F5344CB8AC3E}">
        <p14:creationId xmlns:p14="http://schemas.microsoft.com/office/powerpoint/2010/main" val="3712269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50A59-59E3-AB4D-AF34-1D57BEFA2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51ABE-4631-859E-0742-5CF52732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10288589" cy="76339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Challenge Faced: Access &amp; Firewall Errors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2272E-0932-D771-2349-D375BB773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SQL DB initially blocked Databricks connection request.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Resolution: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Allowed Databricks outbound IP in firewall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Enabled Azure service access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Later suggested Private Endpoint strategy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Secure routing with controlled access points.</a:t>
            </a:r>
          </a:p>
        </p:txBody>
      </p:sp>
    </p:spTree>
    <p:extLst>
      <p:ext uri="{BB962C8B-B14F-4D97-AF65-F5344CB8AC3E}">
        <p14:creationId xmlns:p14="http://schemas.microsoft.com/office/powerpoint/2010/main" val="3960330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AAEE-CFBE-DB5F-E6C2-6831D602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8328-D65F-9DFE-C5D7-8ED6BFCA4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>
            <a:normAutofit/>
          </a:bodyPr>
          <a:lstStyle/>
          <a:p>
            <a:r>
              <a:rPr lang="en-IN" b="1" dirty="0"/>
              <a:t>Challenge Faced: Job Ordering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09BC2-8EC0-DC5D-BC98-45A67008F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Silver must run after Bronze, Gold must run after Silver.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Resolution: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Databricks scheduled job chaining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Email alerts for pipeline failures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Output checkpoints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Outcome: </a:t>
            </a:r>
            <a:r>
              <a:rPr lang="en-IN" dirty="0">
                <a:solidFill>
                  <a:schemeClr val="tx1"/>
                </a:solidFill>
              </a:rPr>
              <a:t>Managed orchestration similar to enterprise orchestration tools.</a:t>
            </a:r>
          </a:p>
        </p:txBody>
      </p:sp>
    </p:spTree>
    <p:extLst>
      <p:ext uri="{BB962C8B-B14F-4D97-AF65-F5344CB8AC3E}">
        <p14:creationId xmlns:p14="http://schemas.microsoft.com/office/powerpoint/2010/main" val="1210022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0F0F-B983-2EF3-6838-A8E17C14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F39D-ADF0-3137-2C7C-E75DB36B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Results Achieved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E160D-E1CC-1D65-90C4-E8A3569D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✔ Fully automated ingestion → reduces manual errors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Real-time visibility to fraud alerts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Standardized enterprise-level lake architecture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Faster reporting (reduced from hours to seconds)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Analytics-ready warehouse for business teams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✔ Audit-ready data for regulatory inspections</a:t>
            </a:r>
          </a:p>
        </p:txBody>
      </p:sp>
    </p:spTree>
    <p:extLst>
      <p:ext uri="{BB962C8B-B14F-4D97-AF65-F5344CB8AC3E}">
        <p14:creationId xmlns:p14="http://schemas.microsoft.com/office/powerpoint/2010/main" val="248008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CCFB-0FBC-782B-0C45-B2E56B94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D2EB-AE40-374D-F4DE-43D1FB59E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Business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9F78C4-CBBD-56FF-8E8D-E5219084B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📌 Higher accuracy when detecting abnormal events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📌 Faster compliance readiness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📌 Enables customer servicing decisions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📌 Eliminates manual consolidation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📌 Improves fraud tracking efficiency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📌 Cost-effective serverless execution</a:t>
            </a:r>
          </a:p>
        </p:txBody>
      </p:sp>
    </p:spTree>
    <p:extLst>
      <p:ext uri="{BB962C8B-B14F-4D97-AF65-F5344CB8AC3E}">
        <p14:creationId xmlns:p14="http://schemas.microsoft.com/office/powerpoint/2010/main" val="2148961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007D-6A6F-7A21-AEE8-304A57A1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586A-160D-7017-3742-30AE1318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8"/>
            <a:ext cx="8534401" cy="763398"/>
          </a:xfrm>
        </p:spPr>
        <p:txBody>
          <a:bodyPr/>
          <a:lstStyle/>
          <a:p>
            <a:r>
              <a:rPr lang="en-IN" b="1" dirty="0"/>
              <a:t>Conclusion 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DE283-2795-5E4E-80C5-DFFAD15C0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3" y="1400961"/>
            <a:ext cx="9533578" cy="45934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This project shows how modern banking data systems can be built using Azure’s serverless and scalable architecture.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The system supports continuous data flow, fraud detection, regulatory intelligence and strong operational reliability.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Its modular design, secured access, dimensional modelling and CI/CD readiness make the platform suitable for real-market banking system development.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036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369DF-8386-93BD-FE89-6FFD4BE50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A375-51DB-86BE-B564-E11BCBB6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1" y="352337"/>
            <a:ext cx="10137587" cy="3514987"/>
          </a:xfrm>
        </p:spPr>
        <p:txBody>
          <a:bodyPr>
            <a:normAutofit/>
          </a:bodyPr>
          <a:lstStyle/>
          <a:p>
            <a:r>
              <a:rPr lang="en-US" sz="4800" b="1" dirty="0"/>
              <a:t>               Thank you !!!</a:t>
            </a:r>
            <a:endParaRPr lang="en-IN" sz="48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D8AFF-6AC1-BF0D-5227-EE8633C0F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 flipV="1">
            <a:off x="-696286" y="5994398"/>
            <a:ext cx="310392" cy="398011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045660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37</TotalTime>
  <Words>1334</Words>
  <Application>Microsoft Office PowerPoint</Application>
  <PresentationFormat>Widescreen</PresentationFormat>
  <Paragraphs>134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Century Gothic</vt:lpstr>
      <vt:lpstr>Wingdings 3</vt:lpstr>
      <vt:lpstr>Slice</vt:lpstr>
      <vt:lpstr>Banking Data Platform using Microsoft Azure</vt:lpstr>
      <vt:lpstr>Project Objective</vt:lpstr>
      <vt:lpstr>What Problem We Are Solving</vt:lpstr>
      <vt:lpstr>High-Level Design Output</vt:lpstr>
      <vt:lpstr>Key Services Used</vt:lpstr>
      <vt:lpstr>Azure Blob Storage Purpose + Execution</vt:lpstr>
      <vt:lpstr>Azure Cosmos DB Purpose + Execution</vt:lpstr>
      <vt:lpstr>Azure Service Bus Purpose + Execution</vt:lpstr>
      <vt:lpstr>Azure Functions Purpose + Execution</vt:lpstr>
      <vt:lpstr>Azure Databricks Purpose</vt:lpstr>
      <vt:lpstr>Azure SQL DW Purpose</vt:lpstr>
      <vt:lpstr>Business Use Case: Real-time Transaction Tracking</vt:lpstr>
      <vt:lpstr>Use Case: Fraud Detection Execution</vt:lpstr>
      <vt:lpstr>Use Case: Customer Activity Profiling</vt:lpstr>
      <vt:lpstr>Use Case: Regulatory Reporting</vt:lpstr>
      <vt:lpstr>Execution: End-to-End Workflow</vt:lpstr>
      <vt:lpstr>Execution Output Snapshots</vt:lpstr>
      <vt:lpstr>Data Quality Improvements Observed</vt:lpstr>
      <vt:lpstr>Challenge Faced: No Direct Cosmos connector</vt:lpstr>
      <vt:lpstr>Challenge Faced: Duplicate Loads</vt:lpstr>
      <vt:lpstr>Challenge Faced: Access &amp; Firewall Errors</vt:lpstr>
      <vt:lpstr>Challenge Faced: Job Ordering</vt:lpstr>
      <vt:lpstr>Results Achieved</vt:lpstr>
      <vt:lpstr>Business Benefits</vt:lpstr>
      <vt:lpstr>Conclusion Summary</vt:lpstr>
      <vt:lpstr>               Thank you 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Chandrashekar K</dc:creator>
  <cp:lastModifiedBy>Chandrashekar K</cp:lastModifiedBy>
  <cp:revision>1</cp:revision>
  <dcterms:created xsi:type="dcterms:W3CDTF">2025-12-10T12:20:38Z</dcterms:created>
  <dcterms:modified xsi:type="dcterms:W3CDTF">2025-12-10T12:58:06Z</dcterms:modified>
</cp:coreProperties>
</file>